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3" r:id="rId7"/>
  </p:sldIdLst>
  <p:sldSz cx="14630400" cy="8229600"/>
  <p:notesSz cx="8229600" cy="14630400"/>
  <p:embeddedFontLst>
    <p:embeddedFont>
      <p:font typeface="Bitter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228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27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4" Type="http://schemas.openxmlformats.org/officeDocument/2006/relationships/image" Target="../media/image-5-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1922264"/>
            <a:ext cx="843498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FinTech Transaction Analytics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864037" y="306407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Comprehensive Business Intelligence Report · Fiscal Year 2024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3860125"/>
            <a:ext cx="2994065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5K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64037" y="4983242"/>
            <a:ext cx="299406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Transactions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4037" y="5517118"/>
            <a:ext cx="299406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Processed throughout 2024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166711" y="3860125"/>
            <a:ext cx="2994184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₹6.59Cr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4166711" y="4983242"/>
            <a:ext cx="299418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Total Revenue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166711" y="5517118"/>
            <a:ext cx="29941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Gross transaction value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469505" y="3860125"/>
            <a:ext cx="2994065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75.4%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7469505" y="4983242"/>
            <a:ext cx="299406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Success Rate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469505" y="5517118"/>
            <a:ext cx="299406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Healthy overall performance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772180" y="3860125"/>
            <a:ext cx="2994184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₹17,206</a:t>
            </a:r>
            <a:endParaRPr lang="en-US" sz="6400" dirty="0"/>
          </a:p>
        </p:txBody>
      </p:sp>
      <p:sp>
        <p:nvSpPr>
          <p:cNvPr id="16" name="Text 13"/>
          <p:cNvSpPr/>
          <p:nvPr/>
        </p:nvSpPr>
        <p:spPr>
          <a:xfrm>
            <a:off x="10772180" y="4983242"/>
            <a:ext cx="299418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Avg. Ticket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772180" y="5517118"/>
            <a:ext cx="29941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Weighted average size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1268" y="834033"/>
            <a:ext cx="6665714" cy="62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by Payment Method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1571268" y="1792843"/>
            <a:ext cx="1148774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Credit Card leads at ₹11.84M (18.0%), followed by UPI at ₹11.54M (17.5%). All six channels contribute meaningfully to overall revenue.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571268" y="2563654"/>
            <a:ext cx="5661660" cy="1501021"/>
          </a:xfrm>
          <a:prstGeom prst="roundRect">
            <a:avLst>
              <a:gd name="adj" fmla="val 2014"/>
            </a:avLst>
          </a:prstGeom>
          <a:solidFill>
            <a:srgbClr val="3B3C3E"/>
          </a:solidFill>
          <a:ln/>
        </p:spPr>
      </p:sp>
      <p:sp>
        <p:nvSpPr>
          <p:cNvPr id="5" name="Text 3"/>
          <p:cNvSpPr/>
          <p:nvPr/>
        </p:nvSpPr>
        <p:spPr>
          <a:xfrm>
            <a:off x="1772722" y="2765108"/>
            <a:ext cx="251924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Credit Card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72722" y="3178731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₹11.84M · 18.0%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772722" y="3570327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Avg: ₹14,096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97353" y="2563654"/>
            <a:ext cx="5661660" cy="1501021"/>
          </a:xfrm>
          <a:prstGeom prst="roundRect">
            <a:avLst>
              <a:gd name="adj" fmla="val 2014"/>
            </a:avLst>
          </a:prstGeom>
          <a:solidFill>
            <a:srgbClr val="3B3C3E"/>
          </a:solidFill>
          <a:ln/>
        </p:spPr>
      </p:sp>
      <p:sp>
        <p:nvSpPr>
          <p:cNvPr id="9" name="Text 7"/>
          <p:cNvSpPr/>
          <p:nvPr/>
        </p:nvSpPr>
        <p:spPr>
          <a:xfrm>
            <a:off x="7598807" y="2765108"/>
            <a:ext cx="251924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UPI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598807" y="3178731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₹11.54M · 17.5%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98807" y="3570327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Avg: ₹13,777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571268" y="4229100"/>
            <a:ext cx="5661660" cy="1501021"/>
          </a:xfrm>
          <a:prstGeom prst="roundRect">
            <a:avLst>
              <a:gd name="adj" fmla="val 2014"/>
            </a:avLst>
          </a:prstGeom>
          <a:solidFill>
            <a:srgbClr val="3B3C3E"/>
          </a:solidFill>
          <a:ln/>
        </p:spPr>
      </p:sp>
      <p:sp>
        <p:nvSpPr>
          <p:cNvPr id="13" name="Text 11"/>
          <p:cNvSpPr/>
          <p:nvPr/>
        </p:nvSpPr>
        <p:spPr>
          <a:xfrm>
            <a:off x="1772722" y="4430554"/>
            <a:ext cx="251924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Wallet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72722" y="4844177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₹10.98M · 16.7%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772722" y="5235773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Avg: ₹13,814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97353" y="4229100"/>
            <a:ext cx="5661660" cy="1501021"/>
          </a:xfrm>
          <a:prstGeom prst="roundRect">
            <a:avLst>
              <a:gd name="adj" fmla="val 2014"/>
            </a:avLst>
          </a:prstGeom>
          <a:solidFill>
            <a:srgbClr val="3B3C3E"/>
          </a:solidFill>
          <a:ln/>
        </p:spPr>
      </p:sp>
      <p:sp>
        <p:nvSpPr>
          <p:cNvPr id="17" name="Text 15"/>
          <p:cNvSpPr/>
          <p:nvPr/>
        </p:nvSpPr>
        <p:spPr>
          <a:xfrm>
            <a:off x="7598807" y="4430554"/>
            <a:ext cx="251924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Cash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98807" y="4844177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₹10.73M · 16.3%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98807" y="5235773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Avg: ₹13,886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571268" y="5894546"/>
            <a:ext cx="5661660" cy="1501021"/>
          </a:xfrm>
          <a:prstGeom prst="roundRect">
            <a:avLst>
              <a:gd name="adj" fmla="val 2014"/>
            </a:avLst>
          </a:prstGeom>
          <a:solidFill>
            <a:srgbClr val="3B3C3E"/>
          </a:solidFill>
          <a:ln/>
        </p:spPr>
      </p:sp>
      <p:sp>
        <p:nvSpPr>
          <p:cNvPr id="21" name="Text 19"/>
          <p:cNvSpPr/>
          <p:nvPr/>
        </p:nvSpPr>
        <p:spPr>
          <a:xfrm>
            <a:off x="1772722" y="6096000"/>
            <a:ext cx="251924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Debit Card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72722" y="6509623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₹10.46M · 15.9%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772722" y="6901220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Avg: ₹13,817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397353" y="5894546"/>
            <a:ext cx="5661660" cy="1501021"/>
          </a:xfrm>
          <a:prstGeom prst="roundRect">
            <a:avLst>
              <a:gd name="adj" fmla="val 2014"/>
            </a:avLst>
          </a:prstGeom>
          <a:solidFill>
            <a:srgbClr val="3B3C3E"/>
          </a:solidFill>
          <a:ln/>
        </p:spPr>
      </p:sp>
      <p:sp>
        <p:nvSpPr>
          <p:cNvPr id="25" name="Text 23"/>
          <p:cNvSpPr/>
          <p:nvPr/>
        </p:nvSpPr>
        <p:spPr>
          <a:xfrm>
            <a:off x="7598807" y="6096000"/>
            <a:ext cx="251924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Net Banking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598807" y="6509623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₹10.35M · 15.7%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98807" y="6901220"/>
            <a:ext cx="525875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Avg: ₹12,990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31796"/>
            <a:ext cx="8028265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Monthly Transaction Volume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2297073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Volume remained steady throughout 2024, averaging 417 transactions/month. July peaked at 438, September dipped to 388 (Q3 seasonal dip).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5281255"/>
            <a:ext cx="12902327" cy="30480"/>
          </a:xfrm>
          <a:prstGeom prst="roundRect">
            <a:avLst>
              <a:gd name="adj" fmla="val 121500"/>
            </a:avLst>
          </a:prstGeom>
          <a:solidFill>
            <a:srgbClr val="545557"/>
          </a:solidFill>
          <a:ln/>
        </p:spPr>
      </p:sp>
      <p:sp>
        <p:nvSpPr>
          <p:cNvPr id="5" name="Shape 3"/>
          <p:cNvSpPr/>
          <p:nvPr/>
        </p:nvSpPr>
        <p:spPr>
          <a:xfrm>
            <a:off x="3336488" y="4540746"/>
            <a:ext cx="30480" cy="740569"/>
          </a:xfrm>
          <a:prstGeom prst="roundRect">
            <a:avLst>
              <a:gd name="adj" fmla="val 121500"/>
            </a:avLst>
          </a:prstGeom>
          <a:solidFill>
            <a:srgbClr val="545557"/>
          </a:solidFill>
          <a:ln/>
        </p:spPr>
      </p:sp>
      <p:sp>
        <p:nvSpPr>
          <p:cNvPr id="6" name="Shape 4"/>
          <p:cNvSpPr/>
          <p:nvPr/>
        </p:nvSpPr>
        <p:spPr>
          <a:xfrm>
            <a:off x="3074075" y="5003542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3166586" y="5049738"/>
            <a:ext cx="370284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808798" y="336482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0853" y="3898702"/>
            <a:ext cx="448210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Jan: 414 · Feb: 416 · Mar: 414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78604" y="5281196"/>
            <a:ext cx="30480" cy="740569"/>
          </a:xfrm>
          <a:prstGeom prst="roundRect">
            <a:avLst>
              <a:gd name="adj" fmla="val 121500"/>
            </a:avLst>
          </a:prstGeom>
          <a:solidFill>
            <a:srgbClr val="54555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6191" y="5003542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2" name="Text 10"/>
          <p:cNvSpPr/>
          <p:nvPr/>
        </p:nvSpPr>
        <p:spPr>
          <a:xfrm>
            <a:off x="5808702" y="5049738"/>
            <a:ext cx="370284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4450913" y="626876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52969" y="6802636"/>
            <a:ext cx="448210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Apr: 410 · May: 424 · Jun: 398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20839" y="4540746"/>
            <a:ext cx="30480" cy="740569"/>
          </a:xfrm>
          <a:prstGeom prst="roundRect">
            <a:avLst>
              <a:gd name="adj" fmla="val 121500"/>
            </a:avLst>
          </a:prstGeom>
          <a:solidFill>
            <a:srgbClr val="545557"/>
          </a:solidFill>
          <a:ln/>
        </p:spPr>
      </p:sp>
      <p:sp>
        <p:nvSpPr>
          <p:cNvPr id="16" name="Shape 14"/>
          <p:cNvSpPr/>
          <p:nvPr/>
        </p:nvSpPr>
        <p:spPr>
          <a:xfrm>
            <a:off x="8358426" y="5003542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7" name="Text 15"/>
          <p:cNvSpPr/>
          <p:nvPr/>
        </p:nvSpPr>
        <p:spPr>
          <a:xfrm>
            <a:off x="8450937" y="5049738"/>
            <a:ext cx="370284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7093148" y="336482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95204" y="3898702"/>
            <a:ext cx="448210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Jul: 438 · Aug: 419 · Sep: 388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1262955" y="5281196"/>
            <a:ext cx="30480" cy="740569"/>
          </a:xfrm>
          <a:prstGeom prst="roundRect">
            <a:avLst>
              <a:gd name="adj" fmla="val 121500"/>
            </a:avLst>
          </a:prstGeom>
          <a:solidFill>
            <a:srgbClr val="5455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00542" y="5003542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22" name="Text 20"/>
          <p:cNvSpPr/>
          <p:nvPr/>
        </p:nvSpPr>
        <p:spPr>
          <a:xfrm>
            <a:off x="11093053" y="5049738"/>
            <a:ext cx="370284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9735264" y="626876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37320" y="6802636"/>
            <a:ext cx="448210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Oct: 431 · Nov: 427 · Dec: 421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702" y="685205"/>
            <a:ext cx="6076474" cy="759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950"/>
              </a:lnSpc>
              <a:buNone/>
            </a:pPr>
            <a:r>
              <a:rPr lang="en-US" sz="4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by Category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850702" y="1923336"/>
            <a:ext cx="1292899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Furniture leads at ₹2.67 Cr (40.5%), followed by Electronics at ₹2.03 Cr. Top two categories drive 71% of GMV.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0702" y="2578298"/>
            <a:ext cx="6344841" cy="2363391"/>
          </a:xfrm>
          <a:prstGeom prst="roundRect">
            <a:avLst>
              <a:gd name="adj" fmla="val 1543"/>
            </a:avLst>
          </a:prstGeom>
          <a:solidFill>
            <a:srgbClr val="3B3C3E"/>
          </a:solidFill>
          <a:ln/>
        </p:spPr>
      </p:sp>
      <p:sp>
        <p:nvSpPr>
          <p:cNvPr id="5" name="Shape 3"/>
          <p:cNvSpPr/>
          <p:nvPr/>
        </p:nvSpPr>
        <p:spPr>
          <a:xfrm>
            <a:off x="1093708" y="2821305"/>
            <a:ext cx="729139" cy="729139"/>
          </a:xfrm>
          <a:prstGeom prst="roundRect">
            <a:avLst>
              <a:gd name="adj" fmla="val 12539565"/>
            </a:avLst>
          </a:prstGeom>
          <a:solidFill>
            <a:srgbClr val="9FA5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94209" y="3021806"/>
            <a:ext cx="328017" cy="328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3708" y="3789640"/>
            <a:ext cx="3038237" cy="379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Furniture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093708" y="4312920"/>
            <a:ext cx="585882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₹26.7M · 40.5%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434739" y="2578298"/>
            <a:ext cx="6344960" cy="2363391"/>
          </a:xfrm>
          <a:prstGeom prst="roundRect">
            <a:avLst>
              <a:gd name="adj" fmla="val 1543"/>
            </a:avLst>
          </a:prstGeom>
          <a:solidFill>
            <a:srgbClr val="3B3C3E"/>
          </a:solidFill>
          <a:ln/>
        </p:spPr>
      </p:sp>
      <p:sp>
        <p:nvSpPr>
          <p:cNvPr id="10" name="Shape 7"/>
          <p:cNvSpPr/>
          <p:nvPr/>
        </p:nvSpPr>
        <p:spPr>
          <a:xfrm>
            <a:off x="7677745" y="2821305"/>
            <a:ext cx="729139" cy="729139"/>
          </a:xfrm>
          <a:prstGeom prst="roundRect">
            <a:avLst>
              <a:gd name="adj" fmla="val 12539565"/>
            </a:avLst>
          </a:prstGeom>
          <a:solidFill>
            <a:srgbClr val="9FA5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78247" y="3021806"/>
            <a:ext cx="328017" cy="328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77745" y="3789640"/>
            <a:ext cx="3038237" cy="379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Electronics</a:t>
            </a:r>
            <a:endParaRPr lang="en-US" sz="2350" dirty="0"/>
          </a:p>
        </p:txBody>
      </p:sp>
      <p:sp>
        <p:nvSpPr>
          <p:cNvPr id="13" name="Text 9"/>
          <p:cNvSpPr/>
          <p:nvPr/>
        </p:nvSpPr>
        <p:spPr>
          <a:xfrm>
            <a:off x="7677745" y="4312920"/>
            <a:ext cx="58589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₹20.3M · 30.8%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50702" y="5180886"/>
            <a:ext cx="6344841" cy="2363391"/>
          </a:xfrm>
          <a:prstGeom prst="roundRect">
            <a:avLst>
              <a:gd name="adj" fmla="val 1543"/>
            </a:avLst>
          </a:prstGeom>
          <a:solidFill>
            <a:srgbClr val="3B3C3E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3708" y="5423892"/>
            <a:ext cx="729139" cy="729139"/>
          </a:xfrm>
          <a:prstGeom prst="roundRect">
            <a:avLst>
              <a:gd name="adj" fmla="val 12539565"/>
            </a:avLst>
          </a:prstGeom>
          <a:solidFill>
            <a:srgbClr val="9FA5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294209" y="5624393"/>
            <a:ext cx="328017" cy="328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3708" y="6392228"/>
            <a:ext cx="3038237" cy="379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Education</a:t>
            </a:r>
            <a:endParaRPr lang="en-US" sz="2350" dirty="0"/>
          </a:p>
        </p:txBody>
      </p:sp>
      <p:sp>
        <p:nvSpPr>
          <p:cNvPr id="18" name="Text 13"/>
          <p:cNvSpPr/>
          <p:nvPr/>
        </p:nvSpPr>
        <p:spPr>
          <a:xfrm>
            <a:off x="1093708" y="6915507"/>
            <a:ext cx="585882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₹12.3M · 18.7%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7434739" y="5180886"/>
            <a:ext cx="6344960" cy="2363391"/>
          </a:xfrm>
          <a:prstGeom prst="roundRect">
            <a:avLst>
              <a:gd name="adj" fmla="val 1543"/>
            </a:avLst>
          </a:prstGeom>
          <a:solidFill>
            <a:srgbClr val="3B3C3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77745" y="5423892"/>
            <a:ext cx="729139" cy="729139"/>
          </a:xfrm>
          <a:prstGeom prst="roundRect">
            <a:avLst>
              <a:gd name="adj" fmla="val 12539565"/>
            </a:avLst>
          </a:prstGeom>
          <a:solidFill>
            <a:srgbClr val="9FA5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878247" y="5624393"/>
            <a:ext cx="328017" cy="328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77745" y="6392228"/>
            <a:ext cx="3038237" cy="379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Travel</a:t>
            </a:r>
            <a:endParaRPr lang="en-US" sz="2350" dirty="0"/>
          </a:p>
        </p:txBody>
      </p:sp>
      <p:sp>
        <p:nvSpPr>
          <p:cNvPr id="23" name="Text 17"/>
          <p:cNvSpPr/>
          <p:nvPr/>
        </p:nvSpPr>
        <p:spPr>
          <a:xfrm>
            <a:off x="7677745" y="6915507"/>
            <a:ext cx="58589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₹12.2M · 18.5%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3783" y="998220"/>
            <a:ext cx="4121825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Bank Performance Analysis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593783" y="1544360"/>
            <a:ext cx="7442835" cy="319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Failure rates vary significantly. Paytm highest at 15.6%, BOB and SBI maintain sub-9% rates. Red-flagged banks (&gt;13%) need reconciliation.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593783" y="1941314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78543" y="1941314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3785235" y="2087047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Paytm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85235" y="2332434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15.6% failure rate · 160 txns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49728" y="1941314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34488" y="1941314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10" name="Text 8"/>
          <p:cNvSpPr/>
          <p:nvPr/>
        </p:nvSpPr>
        <p:spPr>
          <a:xfrm>
            <a:off x="7541181" y="2087047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Mobikwik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41181" y="2332434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14.2% failure rate · 169 txns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93783" y="2706886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8543" y="2706886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14" name="Text 12"/>
          <p:cNvSpPr/>
          <p:nvPr/>
        </p:nvSpPr>
        <p:spPr>
          <a:xfrm>
            <a:off x="3785235" y="2852618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GooglePay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85235" y="3098006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13.8% failure rate · 160 txns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49728" y="2706886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4488" y="2706886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18" name="Text 16"/>
          <p:cNvSpPr/>
          <p:nvPr/>
        </p:nvSpPr>
        <p:spPr>
          <a:xfrm>
            <a:off x="7541181" y="2852618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PNB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41181" y="3098006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13.5% failure rate · 259 txns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93783" y="3472458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78543" y="3472458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22" name="Text 20"/>
          <p:cNvSpPr/>
          <p:nvPr/>
        </p:nvSpPr>
        <p:spPr>
          <a:xfrm>
            <a:off x="3785235" y="3618190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PhonePe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85235" y="3863578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13.4% failure rate · 179 txns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49728" y="3472458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4488" y="3472458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26" name="Text 24"/>
          <p:cNvSpPr/>
          <p:nvPr/>
        </p:nvSpPr>
        <p:spPr>
          <a:xfrm>
            <a:off x="7541181" y="3618190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ICICI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41181" y="3863578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13.2% failure rate · 559 txns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93783" y="4238030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78543" y="4238030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30" name="Text 28"/>
          <p:cNvSpPr/>
          <p:nvPr/>
        </p:nvSpPr>
        <p:spPr>
          <a:xfrm>
            <a:off x="3785235" y="4383762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Kotak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85235" y="4629150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12.8% failure rate · 406 txns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49728" y="4238030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34488" y="4238030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34" name="Text 32"/>
          <p:cNvSpPr/>
          <p:nvPr/>
        </p:nvSpPr>
        <p:spPr>
          <a:xfrm>
            <a:off x="7541181" y="4383762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Amazon Pay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41181" y="4629150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12.3% failure rate · 195 txns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93783" y="5003602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78543" y="5003602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38" name="Text 36"/>
          <p:cNvSpPr/>
          <p:nvPr/>
        </p:nvSpPr>
        <p:spPr>
          <a:xfrm>
            <a:off x="3785235" y="5149334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AMEX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785235" y="5394722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11.3% failure rate · 151 txns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49728" y="5003602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34488" y="5003602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42" name="Text 40"/>
          <p:cNvSpPr/>
          <p:nvPr/>
        </p:nvSpPr>
        <p:spPr>
          <a:xfrm>
            <a:off x="7541181" y="5149334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HDFC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41181" y="5394722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10.5% failure rate · 533 txns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593783" y="5769173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78543" y="5769173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46" name="Text 44"/>
          <p:cNvSpPr/>
          <p:nvPr/>
        </p:nvSpPr>
        <p:spPr>
          <a:xfrm>
            <a:off x="3785235" y="5914906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Axis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3785235" y="6160294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10.2% failure rate · 548 txns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49728" y="5769173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34488" y="5769173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50" name="Text 48"/>
          <p:cNvSpPr/>
          <p:nvPr/>
        </p:nvSpPr>
        <p:spPr>
          <a:xfrm>
            <a:off x="7541181" y="5914906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Yes Bank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541181" y="6160294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9.6% failure rate · 136 txns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593783" y="6534745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78543" y="6534745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54" name="Text 52"/>
          <p:cNvSpPr/>
          <p:nvPr/>
        </p:nvSpPr>
        <p:spPr>
          <a:xfrm>
            <a:off x="3785235" y="6680478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SBI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785235" y="6925866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9.1% failure rate · 552 txns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349728" y="6534745"/>
            <a:ext cx="3686889" cy="696516"/>
          </a:xfrm>
          <a:prstGeom prst="roundRect">
            <a:avLst>
              <a:gd name="adj" fmla="val 10503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34488" y="6534745"/>
            <a:ext cx="60960" cy="696516"/>
          </a:xfrm>
          <a:prstGeom prst="roundRect">
            <a:avLst>
              <a:gd name="adj" fmla="val 32130"/>
            </a:avLst>
          </a:prstGeom>
          <a:solidFill>
            <a:srgbClr val="9FA582"/>
          </a:solidFill>
          <a:ln/>
        </p:spPr>
      </p:sp>
      <p:sp>
        <p:nvSpPr>
          <p:cNvPr id="58" name="Text 56"/>
          <p:cNvSpPr/>
          <p:nvPr/>
        </p:nvSpPr>
        <p:spPr>
          <a:xfrm>
            <a:off x="7541181" y="6680478"/>
            <a:ext cx="1632109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BOB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7541181" y="6925866"/>
            <a:ext cx="334970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8.7% failure rate · 149 txns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683657"/>
            <a:ext cx="8032552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Strategic Recommendations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1948934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2338030"/>
            <a:ext cx="4136231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864037" y="2522339"/>
            <a:ext cx="384869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Prioritize UPI &amp; Credit Card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4037" y="3056215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These channels contribute ~35% of total revenue. Offer cashback incentives to drive further adoption.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7084" y="1948934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2338030"/>
            <a:ext cx="4136231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9" name="Text 7"/>
          <p:cNvSpPr/>
          <p:nvPr/>
        </p:nvSpPr>
        <p:spPr>
          <a:xfrm>
            <a:off x="5247084" y="2522339"/>
            <a:ext cx="405574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Address Wallet Failure Rates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47084" y="3056215"/>
            <a:ext cx="413623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Paytm and Mobikwik show elevated failure rates. Integrate fallback retry logic to recover ~2% additional revenue.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1948934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2338030"/>
            <a:ext cx="4136231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2522339"/>
            <a:ext cx="408729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Boost Furniture &amp; Electronics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30132" y="3056215"/>
            <a:ext cx="413623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two categories drive 71% of GMV. Partner with premium brands and offer EMI on Credit Card and Net Banking.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4037" y="5068372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4037" y="5457468"/>
            <a:ext cx="6327696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4037" y="5641777"/>
            <a:ext cx="32219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Reduce September Dip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4037" y="6175653"/>
            <a:ext cx="632769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Transaction volume dips in September. Launch targeted seasonal promotions in August–September to maintain throughput.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8549" y="5068372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38549" y="5457468"/>
            <a:ext cx="6327815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1" name="Text 19"/>
          <p:cNvSpPr/>
          <p:nvPr/>
        </p:nvSpPr>
        <p:spPr>
          <a:xfrm>
            <a:off x="7438549" y="5641777"/>
            <a:ext cx="440948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Route Volume to Reliable Banks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38549" y="6175653"/>
            <a:ext cx="63278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Direct high-value transactions through HDFC, Axis, and SBI which maintain the lowest failure rates.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535</Words>
  <Application>Microsoft Office PowerPoint</Application>
  <PresentationFormat>Custom</PresentationFormat>
  <Paragraphs>110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Outfit Bold</vt:lpstr>
      <vt:lpstr>Bitter</vt:lpstr>
      <vt:lpstr>Calibri</vt:lpstr>
      <vt:lpstr>Outfit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Saurav Chatterjee</dc:creator>
  <cp:lastModifiedBy>hp</cp:lastModifiedBy>
  <cp:revision>3</cp:revision>
  <dcterms:created xsi:type="dcterms:W3CDTF">2026-03-24T06:37:46Z</dcterms:created>
  <dcterms:modified xsi:type="dcterms:W3CDTF">2026-03-24T06:39:36Z</dcterms:modified>
</cp:coreProperties>
</file>